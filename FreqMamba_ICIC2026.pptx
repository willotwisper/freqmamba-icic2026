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29"/>
  </p:notesMasterIdLst>
  <p:handoutMasterIdLst>
    <p:handoutMasterId r:id="rId30"/>
  </p:handoutMasterIdLst>
  <p:sldIdLst>
    <p:sldId id="303" r:id="rId3"/>
    <p:sldId id="350" r:id="rId4"/>
    <p:sldId id="352" r:id="rId5"/>
    <p:sldId id="399" r:id="rId6"/>
    <p:sldId id="294" r:id="rId7"/>
    <p:sldId id="306" r:id="rId8"/>
    <p:sldId id="400" r:id="rId9"/>
    <p:sldId id="307" r:id="rId10"/>
    <p:sldId id="356" r:id="rId11"/>
    <p:sldId id="401" r:id="rId12"/>
    <p:sldId id="402" r:id="rId13"/>
    <p:sldId id="403" r:id="rId14"/>
    <p:sldId id="405" r:id="rId15"/>
    <p:sldId id="299" r:id="rId16"/>
    <p:sldId id="408" r:id="rId17"/>
    <p:sldId id="315" r:id="rId18"/>
    <p:sldId id="406" r:id="rId19"/>
    <p:sldId id="409" r:id="rId20"/>
    <p:sldId id="407" r:id="rId21"/>
    <p:sldId id="410" r:id="rId22"/>
    <p:sldId id="411" r:id="rId23"/>
    <p:sldId id="397" r:id="rId24"/>
    <p:sldId id="298" r:id="rId25"/>
    <p:sldId id="346" r:id="rId26"/>
    <p:sldId id="317" r:id="rId27"/>
    <p:sldId id="347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Chuizi" initials="CL" lastIdx="10" clrIdx="0"/>
  <p:cmAuthor id="2" name="博洋 李" initials="博李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7C8491"/>
    <a:srgbClr val="DAE3F3"/>
    <a:srgbClr val="385269"/>
    <a:srgbClr val="548B72"/>
    <a:srgbClr val="2F55AC"/>
    <a:srgbClr val="C55A11"/>
    <a:srgbClr val="F4E3D6"/>
    <a:srgbClr val="F5F5F5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9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4313B-186E-4611-8351-EC0B6BCE462C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15F45-D143-4409-8407-2603CFEE48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15F45-D143-4409-8407-2603CFEE48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666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382E-A446-2CCA-6938-C48EA09B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FA3A3A-AD47-DE50-FD93-CE35E50B2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F79A9A-13DB-C56E-2972-AC62289D55B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3999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的算法流程如图。首先在本地训练时，我们提取模型每一层的输入，生成核心梯度空间，上传到服务器。然后服务器聚合来自不同客户端的梯度投影矩阵，生成联合投影矩阵，再发送回各个客户端。最后在本地训练过程中，根据使用梯度投影记忆来更新模型。训练损失函数我们使用一般的分类损失。接下来我将详细介绍这三个部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E5D1-E274-746D-C168-15815809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2EB4FA-E5A8-414E-C973-256F76BBE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4DCDD8-E248-DBA4-C090-9FF2C3216F6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442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6A9D-DB34-0005-52B9-A72DF5FF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22FCFB-16E6-0947-20A5-96589BF43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56AC9E-6C48-0880-CF55-BFA703D3E25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4093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A044-6D11-9136-9B96-4FF3F7B6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3C4D69-EB6A-1E70-4CE0-A6A48C0A02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65C2A6-1EB7-D600-F73C-ED7541BB0F3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698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5FD01-E5AB-75C4-A415-5DE854EB8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7B7992-6D84-3D5B-6F39-5CE184D5C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D96921-3236-F2A0-8575-83BCF4823AD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1728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1301-4133-3A95-92CB-F4132AB3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0C7A43-88AE-084A-1E85-AC3E08E51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FB1FD3-90A0-2E6C-16E4-6D13E002F31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1020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E47B-72A5-5178-14F1-B1AA58D4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ECA5A1-6CCE-79C3-36C1-6D3EFAF89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532A56-54FD-9949-43C7-961B6ED03A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5593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7652-B215-08CB-C7FE-D7379332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8423BA-959C-59AB-1E37-72E551205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9C8461-4B55-1A1A-D383-C21535D1951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056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03C8-8CE7-BAF1-3E0A-12218E90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D1B54C-0758-A5C1-4BAF-C9E288FEB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08F65B-A6DF-9D4B-145D-DEF82238302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597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2033-EEC7-6008-B3B5-AB07BE286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3ADFE8-F64B-6380-DA9B-4522C8EC9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BE2789-DC9A-51CC-1E9C-DC9C23285E1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6081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DA1D-BFEF-DC85-82EF-C20F1E2F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047E2E-5C27-07FE-731B-6933711A2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921334-2A2B-3B0D-EBFB-3755AD5B437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6841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3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jpeg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8" name="文本框 7"/>
          <p:cNvSpPr txBox="1"/>
          <p:nvPr userDrawn="1"/>
        </p:nvSpPr>
        <p:spPr>
          <a:xfrm>
            <a:off x="2516599" y="1543868"/>
            <a:ext cx="7805962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dirty="0">
                <a:solidFill>
                  <a:schemeClr val="bg1">
                    <a:lumMod val="95000"/>
                    <a:alpha val="50000"/>
                  </a:schemeClr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chemeClr val="bg1">
                  <a:lumMod val="95000"/>
                  <a:alpha val="50000"/>
                </a:schemeClr>
              </a:solidFill>
              <a:latin typeface="Minion Pro Cond" panose="02040706060306020203" pitchFamily="18" charset="0"/>
            </a:endParaRPr>
          </a:p>
        </p:txBody>
      </p:sp>
      <p:pic>
        <p:nvPicPr>
          <p:cNvPr id="7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9" name="图片 8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73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452" y="181338"/>
            <a:ext cx="2305091" cy="369035"/>
          </a:xfrm>
          <a:prstGeom prst="rect">
            <a:avLst/>
          </a:prstGeom>
        </p:spPr>
      </p:pic>
      <p:pic>
        <p:nvPicPr>
          <p:cNvPr id="7" name="图片 6" descr="徽标, 公司名称&#10;&#10;描述已自动生成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>
            <a:off x="150999" y="-160457"/>
            <a:ext cx="1850135" cy="101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blipFill dpi="0" rotWithShape="1">
          <a:blip r:embed="rId2">
            <a:alphaModFix amt="41000"/>
            <a:duotone>
              <a:schemeClr val="bg2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 t="-30000" b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/>
        </p:nvSpPr>
        <p:spPr>
          <a:xfrm>
            <a:off x="8120773" y="5333784"/>
            <a:ext cx="46667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2"/>
                </a:solidFill>
                <a:effectLst>
                  <a:glow rad="63500">
                    <a:schemeClr val="accent4">
                      <a:alpha val="40000"/>
                    </a:schemeClr>
                  </a:glow>
                </a:effectLst>
                <a:latin typeface="Antonio" panose="02000803000000000000" pitchFamily="2" charset="0"/>
              </a:rPr>
              <a:t>A</a:t>
            </a:r>
            <a:r>
              <a:rPr lang="en-US" altLang="zh-CN" sz="4000" dirty="0">
                <a:latin typeface="Antonio" panose="02000803000000000000" pitchFamily="2" charset="0"/>
              </a:rPr>
              <a:t>RTIFICIAL </a:t>
            </a:r>
          </a:p>
          <a:p>
            <a:r>
              <a:rPr lang="en-US" altLang="zh-CN" sz="4000" dirty="0">
                <a:solidFill>
                  <a:schemeClr val="accent2"/>
                </a:solidFill>
                <a:effectLst>
                  <a:glow rad="63500">
                    <a:schemeClr val="accent4">
                      <a:alpha val="40000"/>
                    </a:schemeClr>
                  </a:glow>
                </a:effectLst>
                <a:latin typeface="Antonio" panose="02000803000000000000" pitchFamily="2" charset="0"/>
              </a:rPr>
              <a:t>I</a:t>
            </a:r>
            <a:r>
              <a:rPr lang="en-US" altLang="zh-CN" sz="4000" dirty="0">
                <a:latin typeface="Antonio" panose="02000803000000000000" pitchFamily="2" charset="0"/>
              </a:rPr>
              <a:t>NTELLIGENCE</a:t>
            </a:r>
            <a:endParaRPr lang="zh-CN" altLang="en-US" sz="4000" dirty="0">
              <a:latin typeface="Antonio" panose="02000803000000000000" pitchFamily="2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5" y="-6"/>
            <a:ext cx="12192000" cy="6858006"/>
            <a:chOff x="1" y="6567343"/>
            <a:chExt cx="12193588" cy="290657"/>
          </a:xfrm>
        </p:grpSpPr>
        <p:sp>
          <p:nvSpPr>
            <p:cNvPr id="5" name="矩形 4"/>
            <p:cNvSpPr/>
            <p:nvPr userDrawn="1"/>
          </p:nvSpPr>
          <p:spPr>
            <a:xfrm>
              <a:off x="6935099" y="6567343"/>
              <a:ext cx="5258490" cy="290657"/>
            </a:xfrm>
            <a:prstGeom prst="rect">
              <a:avLst/>
            </a:prstGeom>
            <a:gradFill flip="none" rotWithShape="1">
              <a:gsLst>
                <a:gs pos="0">
                  <a:srgbClr val="636399">
                    <a:alpha val="86000"/>
                  </a:srgbClr>
                </a:gs>
                <a:gs pos="60000">
                  <a:srgbClr val="B7D0E5"/>
                </a:gs>
                <a:gs pos="19000">
                  <a:srgbClr val="7891BC">
                    <a:alpha val="87000"/>
                  </a:srgbClr>
                </a:gs>
                <a:gs pos="38000">
                  <a:schemeClr val="accent1">
                    <a:shade val="93000"/>
                    <a:satMod val="130000"/>
                    <a:alpha val="87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 userDrawn="1"/>
          </p:nvSpPr>
          <p:spPr>
            <a:xfrm>
              <a:off x="1" y="6567343"/>
              <a:ext cx="6935099" cy="290657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>
                    <a:alpha val="40000"/>
                  </a:srgbClr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4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8" name="文本框 7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9F9F9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9F9F9"/>
              </a:solidFill>
              <a:latin typeface="Minion Pro Cond" panose="02040706060306020203" pitchFamily="18" charset="0"/>
            </a:endParaRPr>
          </a:p>
        </p:txBody>
      </p:sp>
      <p:pic>
        <p:nvPicPr>
          <p:cNvPr id="7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9" name="图片 8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4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208763-9075-C6B8-71DE-69C31C9683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285" y="30454"/>
            <a:ext cx="439179" cy="41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C433D6D-48A7-342E-D970-C567736FEC15}"/>
              </a:ext>
            </a:extLst>
          </p:cNvPr>
          <p:cNvSpPr txBox="1"/>
          <p:nvPr userDrawn="1"/>
        </p:nvSpPr>
        <p:spPr>
          <a:xfrm>
            <a:off x="4218269" y="155583"/>
            <a:ext cx="159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7C84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ICIC 2026</a:t>
            </a:r>
            <a:endParaRPr lang="zh-CN" altLang="en-US" sz="1800" dirty="0">
              <a:solidFill>
                <a:srgbClr val="7C84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7" name="箭头: 五边形 6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箭头: V 形 7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5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6" name="图片 15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9F9F9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9F9F9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10" name="矩形 9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FF7E1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FF7E1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10" name="矩形 9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8" name="箭头: 五边形 7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箭头: V 形 11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solidFill>
              <a:srgbClr val="F7F0DE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3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4" name="图片 13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FF7E1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FF7E1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CF5E7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CF5E7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2" name="箭头: 五边形 11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箭头: V 形 15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EAE8E8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8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9" name="图片 18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CF5E7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CF5E7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AF2FA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AF2FA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1" name="箭头: 五边形 10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2" name="箭头: V 形 11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solidFill>
              <a:srgbClr val="E5EDEB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3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4" name="图片 13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AF2FA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AF2FA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5F5F5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5F5F5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3" name="箭头: 五边形 12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箭头: V 形 14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solidFill>
              <a:srgbClr val="EDEEE6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6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7" name="图片 16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5F5F5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5F5F5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345C082-D277-4370-B804-6EA7B8368D9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8" name="文本框 7"/>
          <p:cNvSpPr txBox="1"/>
          <p:nvPr userDrawn="1"/>
        </p:nvSpPr>
        <p:spPr>
          <a:xfrm>
            <a:off x="2516599" y="1543868"/>
            <a:ext cx="7805962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dirty="0">
                <a:solidFill>
                  <a:schemeClr val="bg1">
                    <a:lumMod val="95000"/>
                    <a:alpha val="50000"/>
                  </a:schemeClr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chemeClr val="bg1">
                  <a:lumMod val="95000"/>
                  <a:alpha val="50000"/>
                </a:schemeClr>
              </a:solidFill>
              <a:latin typeface="Minion Pro Cond" panose="02040706060306020203" pitchFamily="18" charset="0"/>
            </a:endParaRPr>
          </a:p>
        </p:txBody>
      </p:sp>
      <p:pic>
        <p:nvPicPr>
          <p:cNvPr id="7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9" name="图片 8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73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452" y="181338"/>
            <a:ext cx="2305091" cy="369035"/>
          </a:xfrm>
          <a:prstGeom prst="rect">
            <a:avLst/>
          </a:prstGeom>
        </p:spPr>
      </p:pic>
      <p:pic>
        <p:nvPicPr>
          <p:cNvPr id="7" name="图片 6" descr="徽标, 公司名称&#10;&#10;描述已自动生成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>
            <a:off x="150999" y="-160457"/>
            <a:ext cx="1850135" cy="101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blipFill dpi="0" rotWithShape="1">
          <a:blip r:embed="rId2">
            <a:alphaModFix amt="41000"/>
            <a:duotone>
              <a:schemeClr val="bg2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 t="-30000" b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/>
        </p:nvSpPr>
        <p:spPr>
          <a:xfrm>
            <a:off x="8120773" y="5333784"/>
            <a:ext cx="46667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2"/>
                </a:solidFill>
                <a:effectLst>
                  <a:glow rad="63500">
                    <a:schemeClr val="accent4">
                      <a:alpha val="40000"/>
                    </a:schemeClr>
                  </a:glow>
                </a:effectLst>
                <a:latin typeface="Antonio" panose="02000803000000000000" pitchFamily="2" charset="0"/>
              </a:rPr>
              <a:t>A</a:t>
            </a:r>
            <a:r>
              <a:rPr lang="en-US" altLang="zh-CN" sz="4000" dirty="0">
                <a:latin typeface="Antonio" panose="02000803000000000000" pitchFamily="2" charset="0"/>
              </a:rPr>
              <a:t>RTIFICIAL </a:t>
            </a:r>
          </a:p>
          <a:p>
            <a:r>
              <a:rPr lang="en-US" altLang="zh-CN" sz="4000" dirty="0">
                <a:solidFill>
                  <a:schemeClr val="accent2"/>
                </a:solidFill>
                <a:effectLst>
                  <a:glow rad="63500">
                    <a:schemeClr val="accent4">
                      <a:alpha val="40000"/>
                    </a:schemeClr>
                  </a:glow>
                </a:effectLst>
                <a:latin typeface="Antonio" panose="02000803000000000000" pitchFamily="2" charset="0"/>
              </a:rPr>
              <a:t>I</a:t>
            </a:r>
            <a:r>
              <a:rPr lang="en-US" altLang="zh-CN" sz="4000" dirty="0">
                <a:latin typeface="Antonio" panose="02000803000000000000" pitchFamily="2" charset="0"/>
              </a:rPr>
              <a:t>NTELLIGENCE</a:t>
            </a:r>
            <a:endParaRPr lang="zh-CN" altLang="en-US" sz="4000" dirty="0">
              <a:latin typeface="Antonio" panose="02000803000000000000" pitchFamily="2" charset="0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5" y="-6"/>
            <a:ext cx="12192000" cy="6858006"/>
            <a:chOff x="1" y="6567343"/>
            <a:chExt cx="12193588" cy="290657"/>
          </a:xfrm>
        </p:grpSpPr>
        <p:sp>
          <p:nvSpPr>
            <p:cNvPr id="5" name="矩形 4"/>
            <p:cNvSpPr/>
            <p:nvPr userDrawn="1"/>
          </p:nvSpPr>
          <p:spPr>
            <a:xfrm>
              <a:off x="6935099" y="6567343"/>
              <a:ext cx="5258490" cy="290657"/>
            </a:xfrm>
            <a:prstGeom prst="rect">
              <a:avLst/>
            </a:prstGeom>
            <a:gradFill flip="none" rotWithShape="1">
              <a:gsLst>
                <a:gs pos="0">
                  <a:srgbClr val="636399">
                    <a:alpha val="86000"/>
                  </a:srgbClr>
                </a:gs>
                <a:gs pos="60000">
                  <a:srgbClr val="B7D0E5"/>
                </a:gs>
                <a:gs pos="19000">
                  <a:srgbClr val="7891BC">
                    <a:alpha val="87000"/>
                  </a:srgbClr>
                </a:gs>
                <a:gs pos="38000">
                  <a:schemeClr val="accent1">
                    <a:shade val="93000"/>
                    <a:satMod val="130000"/>
                    <a:alpha val="87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/>
            <p:cNvSpPr/>
            <p:nvPr userDrawn="1"/>
          </p:nvSpPr>
          <p:spPr>
            <a:xfrm>
              <a:off x="1" y="6567343"/>
              <a:ext cx="6935099" cy="290657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>
                    <a:alpha val="40000"/>
                  </a:srgbClr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4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8" name="文本框 7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9F9F9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9F9F9"/>
              </a:solidFill>
              <a:latin typeface="Minion Pro Cond" panose="02040706060306020203" pitchFamily="18" charset="0"/>
            </a:endParaRPr>
          </a:p>
        </p:txBody>
      </p:sp>
      <p:pic>
        <p:nvPicPr>
          <p:cNvPr id="7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9" name="图片 8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4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7" name="箭头: 五边形 6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箭头: V 形 7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5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6" name="图片 15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9F9F9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9F9F9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10" name="矩形 9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FF7E1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FF7E1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10" name="矩形 9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8" name="箭头: 五边形 7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箭头: V 形 11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solidFill>
              <a:srgbClr val="F7F0DE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3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4" name="图片 13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FF7E1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FF7E1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CF5E7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CF5E7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2" name="箭头: 五边形 11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箭头: V 形 15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EAE8E8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8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9" name="图片 18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CF5E7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CF5E7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AF2FA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AF2FA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1" name="箭头: 五边形 10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2" name="箭头: V 形 11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solidFill>
              <a:srgbClr val="E5EDEB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3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4" name="图片 13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EAF2FA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EAF2FA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17" y="68229"/>
            <a:ext cx="1991979" cy="377928"/>
          </a:xfrm>
          <a:prstGeom prst="rect">
            <a:avLst/>
          </a:prstGeom>
        </p:spPr>
      </p:pic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4277" y="-256067"/>
            <a:ext cx="1362351" cy="102652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5F5F5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5F5F5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EE752E"/>
                </a:gs>
              </a:gsLst>
              <a:lin ang="108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 flip="none" rotWithShape="1">
              <a:gsLst>
                <a:gs pos="0">
                  <a:srgbClr val="636399"/>
                </a:gs>
                <a:gs pos="25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3" name="箭头: 五边形 12"/>
          <p:cNvSpPr/>
          <p:nvPr userDrawn="1"/>
        </p:nvSpPr>
        <p:spPr>
          <a:xfrm>
            <a:off x="128609" y="108596"/>
            <a:ext cx="2627843" cy="566730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箭头: V 形 14"/>
          <p:cNvSpPr/>
          <p:nvPr userDrawn="1"/>
        </p:nvSpPr>
        <p:spPr>
          <a:xfrm>
            <a:off x="2458751" y="106387"/>
            <a:ext cx="297701" cy="566730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solidFill>
              <a:srgbClr val="EDEEE6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6" name="图形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557" y="58818"/>
            <a:ext cx="2133712" cy="388856"/>
          </a:xfrm>
          <a:prstGeom prst="rect">
            <a:avLst/>
          </a:prstGeom>
        </p:spPr>
      </p:pic>
      <p:pic>
        <p:nvPicPr>
          <p:cNvPr id="17" name="图片 16" descr="徽标, 公司名称&#10;&#10;描述已自动生成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9303" y="-289302"/>
            <a:ext cx="1350183" cy="102317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1277600" y="6315074"/>
            <a:ext cx="589212" cy="461665"/>
          </a:xfrm>
          <a:prstGeom prst="rect">
            <a:avLst/>
          </a:prstGeom>
          <a:solidFill>
            <a:schemeClr val="bg1">
              <a:alpha val="6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latin typeface="+mj-ea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11313962" y="6315072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A45B3294-B3B1-420E-A780-2B90260635F3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82502" y="1543868"/>
            <a:ext cx="1002699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rgbClr val="F5F5F5"/>
                </a:solidFill>
                <a:latin typeface="Minion Pro Cond" panose="02040706060306020203" pitchFamily="18" charset="0"/>
              </a:rPr>
              <a:t>IMED</a:t>
            </a:r>
            <a:endParaRPr lang="zh-CN" altLang="en-US" sz="23900" dirty="0">
              <a:solidFill>
                <a:srgbClr val="F5F5F5"/>
              </a:solidFill>
              <a:latin typeface="Minion Pro Cond" panose="02040706060306020203" pitchFamily="18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345C082-D277-4370-B804-6EA7B8368D9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36404" y="6315072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C345C082-D277-4370-B804-6EA7B8368D9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36404" y="6315072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b="1" smtClean="0"/>
            </a:lvl1pPr>
          </a:lstStyle>
          <a:p>
            <a:pPr algn="ctr"/>
            <a:fld id="{C345C082-D277-4370-B804-6EA7B8368D96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314113" y="6315075"/>
            <a:ext cx="515937" cy="461963"/>
          </a:xfrm>
        </p:spPr>
        <p:txBody>
          <a:bodyPr/>
          <a:lstStyle/>
          <a:p>
            <a:fld id="{A45B3294-B3B1-420E-A780-2B90260635F3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570034" y="1813034"/>
            <a:ext cx="110519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666666"/>
                </a:solidFill>
                <a:latin typeface="Arial"/>
              </a:defRPr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FreqMamba:Generalizable Frequency-Spatial Mamba Network for</a:t>
            </a:r>
            <a:b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Structure-Preserving Retinal Image Enhancement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32546" y="4060866"/>
            <a:ext cx="9526905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Jialiang Liu, Xiangyang Yu, </a:t>
            </a:r>
            <a:r>
              <a:rPr lang="en-US" altLang="zh-CN" dirty="0" err="1"/>
              <a:t>Huiyan</a:t>
            </a:r>
            <a:r>
              <a:rPr lang="en-US" altLang="zh-CN" dirty="0"/>
              <a:t> Lin, Heng Li and Jiang Liu</a:t>
            </a:r>
          </a:p>
          <a:p>
            <a:pPr algn="ctr"/>
            <a:endParaRPr lang="zh-CN" altLang="en-US" dirty="0"/>
          </a:p>
          <a:p>
            <a:pPr algn="ctr"/>
            <a:r>
              <a:rPr lang="en-US" altLang="zh-CN" dirty="0">
                <a:sym typeface="+mn-ea"/>
              </a:rPr>
              <a:t>Southern University of Science and Technology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3AC4055-861B-6B2A-94F1-5B35F353042B}"/>
              </a:ext>
            </a:extLst>
          </p:cNvPr>
          <p:cNvSpPr txBox="1"/>
          <p:nvPr/>
        </p:nvSpPr>
        <p:spPr>
          <a:xfrm>
            <a:off x="-1318161" y="655044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ICIC 2026  —  Session 2: Image Processing  —  Online Room E  —  Paper 5225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1EB835C-824F-5319-E082-0CD39E4F0D5F}"/>
              </a:ext>
            </a:extLst>
          </p:cNvPr>
          <p:cNvSpPr txBox="1"/>
          <p:nvPr/>
        </p:nvSpPr>
        <p:spPr>
          <a:xfrm>
            <a:off x="1255713" y="527254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 dirty="0"/>
              <a:t>July 25, 2026  |  22:45–23:00 CST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A45B3294-B3B1-420E-A780-2B90260635F3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F744BC1-BD72-5A58-6635-51EA168871FA}"/>
              </a:ext>
            </a:extLst>
          </p:cNvPr>
          <p:cNvSpPr txBox="1"/>
          <p:nvPr/>
        </p:nvSpPr>
        <p:spPr>
          <a:xfrm>
            <a:off x="4126675" y="627017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4472C4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E53AC00F-ED17-9408-0024-48A3D4ED20A6}"/>
              </a:ext>
            </a:extLst>
          </p:cNvPr>
          <p:cNvSpPr txBox="1"/>
          <p:nvPr/>
        </p:nvSpPr>
        <p:spPr>
          <a:xfrm>
            <a:off x="2755075" y="190717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4472C4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A32443D-BE58-2ED1-28EB-CC943886D1D6}"/>
              </a:ext>
            </a:extLst>
          </p:cNvPr>
          <p:cNvSpPr txBox="1"/>
          <p:nvPr/>
        </p:nvSpPr>
        <p:spPr>
          <a:xfrm>
            <a:off x="5315395" y="1907177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2D2D2D"/>
                </a:solidFill>
                <a:latin typeface="Arial"/>
              </a:defRPr>
            </a:pPr>
            <a:r>
              <a:rPr b="1" dirty="0"/>
              <a:t>Motivation &amp; Background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A121E3E-CCD0-2125-EC4D-839315F90BAA}"/>
              </a:ext>
            </a:extLst>
          </p:cNvPr>
          <p:cNvSpPr txBox="1"/>
          <p:nvPr/>
        </p:nvSpPr>
        <p:spPr>
          <a:xfrm>
            <a:off x="2755075" y="300445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4472C4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AD729553-021E-9339-97E9-1523C6D72633}"/>
              </a:ext>
            </a:extLst>
          </p:cNvPr>
          <p:cNvSpPr txBox="1"/>
          <p:nvPr/>
        </p:nvSpPr>
        <p:spPr>
          <a:xfrm>
            <a:off x="5315395" y="3004457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2D2D2D"/>
                </a:solidFill>
                <a:latin typeface="Arial"/>
              </a:defRPr>
            </a:pPr>
            <a:r>
              <a:rPr b="1"/>
              <a:t>FreqMamba Method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98D1732-403D-0ECA-376B-57955B3E2B01}"/>
              </a:ext>
            </a:extLst>
          </p:cNvPr>
          <p:cNvSpPr txBox="1"/>
          <p:nvPr/>
        </p:nvSpPr>
        <p:spPr>
          <a:xfrm>
            <a:off x="2755075" y="410173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4472C4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5AE025C-A556-3E58-0555-E1EBA0A43CCF}"/>
              </a:ext>
            </a:extLst>
          </p:cNvPr>
          <p:cNvSpPr txBox="1"/>
          <p:nvPr/>
        </p:nvSpPr>
        <p:spPr>
          <a:xfrm>
            <a:off x="5315395" y="4101737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2D2D2D"/>
                </a:solidFill>
                <a:latin typeface="Arial"/>
              </a:defRPr>
            </a:pPr>
            <a:r>
              <a:rPr b="1"/>
              <a:t>Experiments &amp; Results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77E72625-03A6-B67B-C1D9-9BFB7BF2649D}"/>
              </a:ext>
            </a:extLst>
          </p:cNvPr>
          <p:cNvSpPr txBox="1"/>
          <p:nvPr/>
        </p:nvSpPr>
        <p:spPr>
          <a:xfrm>
            <a:off x="2755075" y="519901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4472C4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F162177-E9B9-0155-9C46-1FB5A5D18352}"/>
              </a:ext>
            </a:extLst>
          </p:cNvPr>
          <p:cNvSpPr txBox="1"/>
          <p:nvPr/>
        </p:nvSpPr>
        <p:spPr>
          <a:xfrm>
            <a:off x="5315395" y="5199017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2D2D2D"/>
                </a:solidFill>
                <a:latin typeface="Arial"/>
              </a:defRPr>
            </a:pPr>
            <a:r>
              <a:rPr b="1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A45B3294-B3B1-420E-A780-2B90260635F3}" type="slidenum">
              <a:rPr lang="en-US" altLang="zh-CN" smtClean="0"/>
              <a:t>3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3180865" y="2875002"/>
            <a:ext cx="5830270" cy="1107996"/>
            <a:chOff x="2837475" y="2844967"/>
            <a:chExt cx="5830270" cy="1107996"/>
          </a:xfrm>
        </p:grpSpPr>
        <p:sp>
          <p:nvSpPr>
            <p:cNvPr id="4" name="椭圆 3"/>
            <p:cNvSpPr/>
            <p:nvPr/>
          </p:nvSpPr>
          <p:spPr>
            <a:xfrm>
              <a:off x="2837475" y="2891134"/>
              <a:ext cx="999681" cy="1015663"/>
            </a:xfrm>
            <a:prstGeom prst="ellipse">
              <a:avLst/>
            </a:prstGeom>
            <a:noFill/>
            <a:ln w="19050">
              <a:solidFill>
                <a:srgbClr val="8FAA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4400" dirty="0">
                  <a:solidFill>
                    <a:srgbClr val="8FAAD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kumimoji="1" lang="zh-CN" altLang="en-US" sz="4400" dirty="0">
                <a:solidFill>
                  <a:srgbClr val="8FAAD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837156" y="2844967"/>
              <a:ext cx="483058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  <a:defRPr sz="5400" b="1">
                  <a:solidFill>
                    <a:srgbClr val="2D2D2D"/>
                  </a:solidFill>
                  <a:latin typeface="Arial"/>
                </a:defRPr>
              </a:pPr>
              <a:r>
                <a:rPr lang="en-US" altLang="zh-CN" sz="6600" dirty="0"/>
                <a:t>Motivation</a:t>
              </a:r>
            </a:p>
          </p:txBody>
        </p:sp>
      </p:grpSp>
      <p:sp>
        <p:nvSpPr>
          <p:cNvPr id="8" name="TextBox 3">
            <a:extLst>
              <a:ext uri="{FF2B5EF4-FFF2-40B4-BE49-F238E27FC236}">
                <a16:creationId xmlns:a16="http://schemas.microsoft.com/office/drawing/2014/main" id="{48CF7202-EB78-381A-41AE-1BFA79A223DD}"/>
              </a:ext>
            </a:extLst>
          </p:cNvPr>
          <p:cNvSpPr txBox="1"/>
          <p:nvPr/>
        </p:nvSpPr>
        <p:spPr>
          <a:xfrm>
            <a:off x="2895600" y="434161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472C4"/>
                </a:solidFill>
              </a:defRPr>
            </a:pPr>
            <a:r>
              <a:rPr dirty="0"/>
              <a:t>________________________________________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7C7DAF-AE6D-BF9E-2E27-3F08A0A6B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45B3294-B3B1-420E-A780-2B90260635F3}" type="slidenum">
              <a:rPr lang="en-US" altLang="zh-CN" smtClean="0"/>
              <a:t>4</a:t>
            </a:fld>
            <a:endParaRPr lang="en-US" altLang="zh-CN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19F9D00-886D-7E34-5190-F9F2E0E550F8}"/>
              </a:ext>
            </a:extLst>
          </p:cNvPr>
          <p:cNvSpPr txBox="1"/>
          <p:nvPr/>
        </p:nvSpPr>
        <p:spPr>
          <a:xfrm>
            <a:off x="165069" y="549236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 </a:t>
            </a:r>
            <a:r>
              <a:rPr dirty="0"/>
              <a:t>Background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3B6193D-F284-EFC6-5D12-962E434DFA2E}"/>
              </a:ext>
            </a:extLst>
          </p:cNvPr>
          <p:cNvSpPr txBox="1"/>
          <p:nvPr/>
        </p:nvSpPr>
        <p:spPr>
          <a:xfrm>
            <a:off x="640080" y="100821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t>Three Key Challenges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AA875B3-79A4-E67F-70DC-EA3D5405DFF5}"/>
              </a:ext>
            </a:extLst>
          </p:cNvPr>
          <p:cNvSpPr txBox="1"/>
          <p:nvPr/>
        </p:nvSpPr>
        <p:spPr>
          <a:xfrm>
            <a:off x="640080" y="1648296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① Structural Continuity vs. Noise Suppression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Vessel structures need long-range modeling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without over-smoothing fine details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② Adaptive Degradation Separation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Real-world degradations vary in type &amp; severity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Need to decouple artifacts from anatomy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③ Downstream Task Awareness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Enhancement must preserve vascular integrity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for subsequent diagnostic analysis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3965DE6-5226-C79B-583E-05903944F250}"/>
              </a:ext>
            </a:extLst>
          </p:cNvPr>
          <p:cNvSpPr txBox="1"/>
          <p:nvPr/>
        </p:nvSpPr>
        <p:spPr>
          <a:xfrm>
            <a:off x="5944788" y="1335752"/>
            <a:ext cx="50292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Current Limitations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dirty="0"/>
              <a:t>  </a:t>
            </a:r>
            <a:r>
              <a:rPr dirty="0">
                <a:solidFill>
                  <a:srgbClr val="FF0000"/>
                </a:solidFill>
              </a:rPr>
              <a:t>CNN</a:t>
            </a:r>
            <a:r>
              <a:rPr dirty="0"/>
              <a:t>: limited receptive field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dirty="0"/>
              <a:t>  </a:t>
            </a:r>
            <a:r>
              <a:rPr dirty="0">
                <a:solidFill>
                  <a:srgbClr val="FF0000"/>
                </a:solidFill>
              </a:rPr>
              <a:t>Transformer</a:t>
            </a:r>
            <a:r>
              <a:rPr dirty="0"/>
              <a:t>: O(H²W²) complexity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dirty="0"/>
              <a:t>  </a:t>
            </a:r>
            <a:r>
              <a:rPr dirty="0">
                <a:solidFill>
                  <a:srgbClr val="FF0000"/>
                </a:solidFill>
              </a:rPr>
              <a:t>End-to-end denoising</a:t>
            </a:r>
            <a:r>
              <a:rPr dirty="0"/>
              <a:t>: over-smoothing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CEA3F6-E90A-14AD-57DB-9C39028D70D3}"/>
              </a:ext>
            </a:extLst>
          </p:cNvPr>
          <p:cNvSpPr txBox="1"/>
          <p:nvPr/>
        </p:nvSpPr>
        <p:spPr>
          <a:xfrm>
            <a:off x="5732472" y="231199"/>
            <a:ext cx="6097978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1">
                <a:solidFill>
                  <a:srgbClr val="4472C4"/>
                </a:solidFill>
                <a:latin typeface="Arial"/>
              </a:defRPr>
            </a:pPr>
            <a:r>
              <a:rPr lang="en-US" altLang="zh-CN" dirty="0"/>
              <a:t> </a:t>
            </a:r>
            <a:r>
              <a:rPr lang="en-US" altLang="zh-CN" dirty="0" err="1"/>
              <a:t>FreqMamba</a:t>
            </a:r>
            <a:r>
              <a:rPr lang="en-US" altLang="zh-CN" dirty="0"/>
              <a:t>: spatial (Mamba)  + frequency (FFT) dual-domain with linear O(N) complexity</a:t>
            </a:r>
          </a:p>
        </p:txBody>
      </p:sp>
      <p:pic>
        <p:nvPicPr>
          <p:cNvPr id="10" name="Picture 2" descr="Refer to caption">
            <a:extLst>
              <a:ext uri="{FF2B5EF4-FFF2-40B4-BE49-F238E27FC236}">
                <a16:creationId xmlns:a16="http://schemas.microsoft.com/office/drawing/2014/main" id="{9FB25133-7868-A2EE-8709-E3060393B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591" y="3030950"/>
            <a:ext cx="6506859" cy="255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E5A3C262-1170-A08A-BADC-42955CAB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211" y="2712174"/>
            <a:ext cx="6492354" cy="336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65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5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F8634B-FFA6-7537-BD7F-157AC57308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09" y="1451677"/>
            <a:ext cx="7525120" cy="377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81ECC9EA-23D9-C513-A498-E7C0F71EFDFB}"/>
              </a:ext>
            </a:extLst>
          </p:cNvPr>
          <p:cNvSpPr txBox="1"/>
          <p:nvPr/>
        </p:nvSpPr>
        <p:spPr>
          <a:xfrm>
            <a:off x="230069" y="562296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 </a:t>
            </a:r>
            <a:r>
              <a:rPr dirty="0"/>
              <a:t>Background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E9F2AD9F-3911-EC99-2EAA-EC3D5F07BF8B}"/>
              </a:ext>
            </a:extLst>
          </p:cNvPr>
          <p:cNvSpPr txBox="1"/>
          <p:nvPr/>
        </p:nvSpPr>
        <p:spPr>
          <a:xfrm>
            <a:off x="7785067" y="880369"/>
            <a:ext cx="48344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lang="en-US" altLang="zh-CN" sz="2200" dirty="0"/>
              <a:t>Synthetic Degradation Protocol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F4308B00-06B3-3EBB-07B2-F3D18B500CEA}"/>
              </a:ext>
            </a:extLst>
          </p:cNvPr>
          <p:cNvSpPr txBox="1"/>
          <p:nvPr/>
        </p:nvSpPr>
        <p:spPr>
          <a:xfrm>
            <a:off x="7939554" y="1564439"/>
            <a:ext cx="3983188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Five frequency-dependent artifacts: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>
                <a:solidFill>
                  <a:srgbClr val="FF0000"/>
                </a:solidFill>
              </a:rPr>
              <a:t>    Illumination shading (radial)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>
                <a:solidFill>
                  <a:srgbClr val="FF0000"/>
                </a:solidFill>
              </a:rPr>
              <a:t>    Contrast reduction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>
                <a:solidFill>
                  <a:srgbClr val="FF0000"/>
                </a:solidFill>
              </a:rPr>
              <a:t>    Scattering haze (atmospheric)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>
                <a:solidFill>
                  <a:srgbClr val="FF0000"/>
                </a:solidFill>
              </a:rPr>
              <a:t>    Sensor noise (Gaussian)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>
                <a:solidFill>
                  <a:srgbClr val="FF0000"/>
                </a:solidFill>
              </a:rPr>
              <a:t>    Color cast (channel-wise)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3 </a:t>
            </a:r>
            <a:r>
              <a:rPr lang="en-US" altLang="zh-CN" dirty="0">
                <a:solidFill>
                  <a:srgbClr val="FF0000"/>
                </a:solidFill>
              </a:rPr>
              <a:t>severity</a:t>
            </a:r>
            <a:r>
              <a:rPr lang="en-US" altLang="zh-CN" dirty="0"/>
              <a:t> levels for rigorous testing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Random on-the-fly composition during training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Deterministic md5-seeded for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672465" y="1599565"/>
            <a:ext cx="11219815" cy="4015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  <a:buClrTx/>
              <a:buSz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1. A highly generalizable hybrid architecture,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FreqMamba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, is proposed, integrating bidirectional Mamba-based spatial modeling with adaptive frequency-domain modulation.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buClrTx/>
              <a:buSz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2. The FSMB is designed as the core computational unit, combining long-range spa-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tial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SSMs with a learnable, Butterworth-guided implicit residual frequency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modu-lation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to resolve the over-smoothing dilemma.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buClrTx/>
              <a:buSz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3. A rigorous downstream-task-aware evaluation protocol under zero-shot cross-dataset settings is introduced, demonstrating that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FreqMamba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outperforms state-of-the-art methods in both perceptual quality and downstream robustness.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6410" y="786130"/>
            <a:ext cx="2266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Contribution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F0AD-220F-C952-8FB3-EBCB51B7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ADB291-AA9F-3645-4F91-326F32E2D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A45B3294-B3B1-420E-A780-2B90260635F3}" type="slidenum">
              <a:rPr lang="en-US" altLang="zh-CN" smtClean="0"/>
              <a:t>7</a:t>
            </a:fld>
            <a:endParaRPr lang="en-US" altLang="zh-CN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5FFCBC9-2424-FD52-4E1B-E24C1DAECE9B}"/>
              </a:ext>
            </a:extLst>
          </p:cNvPr>
          <p:cNvGrpSpPr/>
          <p:nvPr/>
        </p:nvGrpSpPr>
        <p:grpSpPr>
          <a:xfrm>
            <a:off x="1428136" y="2875002"/>
            <a:ext cx="9335727" cy="1107996"/>
            <a:chOff x="2837475" y="2844967"/>
            <a:chExt cx="9335727" cy="110799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EBCD167-0800-8F36-BB9F-252DC540CBBF}"/>
                </a:ext>
              </a:extLst>
            </p:cNvPr>
            <p:cNvSpPr/>
            <p:nvPr/>
          </p:nvSpPr>
          <p:spPr>
            <a:xfrm>
              <a:off x="2837475" y="2891134"/>
              <a:ext cx="999681" cy="1015663"/>
            </a:xfrm>
            <a:prstGeom prst="ellipse">
              <a:avLst/>
            </a:prstGeom>
            <a:noFill/>
            <a:ln w="19050">
              <a:solidFill>
                <a:srgbClr val="8FAA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4400" dirty="0">
                  <a:solidFill>
                    <a:srgbClr val="8FAAD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kumimoji="1" lang="zh-CN" altLang="en-US" sz="4400" dirty="0">
                <a:solidFill>
                  <a:srgbClr val="8FAAD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B70D5B6-AE7F-E78A-C66A-81DCD4171F2B}"/>
                </a:ext>
              </a:extLst>
            </p:cNvPr>
            <p:cNvSpPr txBox="1"/>
            <p:nvPr/>
          </p:nvSpPr>
          <p:spPr>
            <a:xfrm>
              <a:off x="3837156" y="2844967"/>
              <a:ext cx="833604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  <a:defRPr sz="5400" b="1">
                  <a:solidFill>
                    <a:srgbClr val="2D2D2D"/>
                  </a:solidFill>
                  <a:latin typeface="Arial"/>
                </a:defRPr>
              </a:pPr>
              <a:r>
                <a:rPr lang="en-US" altLang="zh-CN" sz="6600" dirty="0" err="1"/>
                <a:t>FreqMamba</a:t>
              </a:r>
              <a:r>
                <a:rPr lang="en-US" altLang="zh-CN" sz="6600" dirty="0"/>
                <a:t> Method</a:t>
              </a:r>
            </a:p>
          </p:txBody>
        </p:sp>
      </p:grpSp>
      <p:sp>
        <p:nvSpPr>
          <p:cNvPr id="8" name="TextBox 3">
            <a:extLst>
              <a:ext uri="{FF2B5EF4-FFF2-40B4-BE49-F238E27FC236}">
                <a16:creationId xmlns:a16="http://schemas.microsoft.com/office/drawing/2014/main" id="{369D9D3C-8CD0-F41B-5FB3-4BA0456038E6}"/>
              </a:ext>
            </a:extLst>
          </p:cNvPr>
          <p:cNvSpPr txBox="1"/>
          <p:nvPr/>
        </p:nvSpPr>
        <p:spPr>
          <a:xfrm>
            <a:off x="2895600" y="434161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472C4"/>
                </a:solidFill>
              </a:defRPr>
            </a:pPr>
            <a:r>
              <a:rPr dirty="0"/>
              <a:t>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13595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3781425" y="564515"/>
            <a:ext cx="4629150" cy="666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  <a:spcAft>
                <a:spcPts val="1800"/>
              </a:spcAft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overview of </a:t>
            </a:r>
            <a:r>
              <a:rPr lang="en-US" altLang="zh-C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FreqMamba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FE31DF-3CC6-45D8-AEF5-A671E3C647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198" y="1092529"/>
            <a:ext cx="9838398" cy="5011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19AD0A5-69E4-D6F3-6568-BEA01E1A4692}"/>
              </a:ext>
            </a:extLst>
          </p:cNvPr>
          <p:cNvSpPr txBox="1"/>
          <p:nvPr/>
        </p:nvSpPr>
        <p:spPr>
          <a:xfrm>
            <a:off x="176942" y="561111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 </a:t>
            </a:r>
            <a:r>
              <a:rPr dirty="0"/>
              <a:t>Architecture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7321394-E971-9ECF-F76B-DC34BC9617A3}"/>
              </a:ext>
            </a:extLst>
          </p:cNvPr>
          <p:cNvSpPr txBox="1"/>
          <p:nvPr/>
        </p:nvSpPr>
        <p:spPr>
          <a:xfrm>
            <a:off x="838993" y="1144987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dirty="0" err="1"/>
              <a:t>HybridMambaUNet</a:t>
            </a:r>
            <a:endParaRPr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DB23029-DD8A-9EBA-53C7-71E7A6DDF356}"/>
              </a:ext>
            </a:extLst>
          </p:cNvPr>
          <p:cNvSpPr txBox="1"/>
          <p:nvPr/>
        </p:nvSpPr>
        <p:spPr>
          <a:xfrm>
            <a:off x="700646" y="1790801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U-shaped network with skip connections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Encoder: Conv → </a:t>
            </a:r>
            <a:r>
              <a:rPr dirty="0" err="1"/>
              <a:t>ResBlock</a:t>
            </a:r>
            <a:r>
              <a:rPr dirty="0"/>
              <a:t> → </a:t>
            </a:r>
            <a:r>
              <a:rPr dirty="0" err="1"/>
              <a:t>Downsample</a:t>
            </a:r>
            <a:endParaRPr dirty="0"/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dirty="0"/>
              <a:t>    3 → 32 → 64 channels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Bottleneck (128 </a:t>
            </a:r>
            <a:r>
              <a:rPr dirty="0" err="1"/>
              <a:t>ch</a:t>
            </a:r>
            <a:r>
              <a:rPr dirty="0"/>
              <a:t>):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dirty="0"/>
              <a:t>    3 × Frequency-Spatial Mamba Block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Decoder: </a:t>
            </a:r>
            <a:r>
              <a:rPr dirty="0" err="1"/>
              <a:t>Upsample</a:t>
            </a:r>
            <a:r>
              <a:rPr dirty="0"/>
              <a:t> → </a:t>
            </a:r>
            <a:r>
              <a:rPr dirty="0" err="1"/>
              <a:t>Concat</a:t>
            </a:r>
            <a:r>
              <a:rPr dirty="0"/>
              <a:t> → Conv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Residual: output = input + </a:t>
            </a:r>
            <a:r>
              <a:rPr dirty="0" err="1"/>
              <a:t>tail_pred</a:t>
            </a:r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DE811A-6C9C-B8C7-ECD5-F2973534C8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57"/>
          <a:stretch>
            <a:fillRect/>
          </a:stretch>
        </p:blipFill>
        <p:spPr bwMode="auto">
          <a:xfrm>
            <a:off x="6412225" y="303229"/>
            <a:ext cx="5314921" cy="590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A98007-D544-8A95-7B34-578CEB327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090" y="3065500"/>
            <a:ext cx="285765" cy="381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3295-677D-191A-5E82-BFB034C4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A01BD4-97D2-8D41-D1AE-4C179F0E6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DF49362-F03E-9DB3-9DC8-FFE843B63838}"/>
              </a:ext>
            </a:extLst>
          </p:cNvPr>
          <p:cNvSpPr txBox="1"/>
          <p:nvPr/>
        </p:nvSpPr>
        <p:spPr>
          <a:xfrm>
            <a:off x="176942" y="561111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FSMB Design</a:t>
            </a:r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1D22572-DB44-C2D6-B15D-DF8A946309CA}"/>
              </a:ext>
            </a:extLst>
          </p:cNvPr>
          <p:cNvSpPr txBox="1"/>
          <p:nvPr/>
        </p:nvSpPr>
        <p:spPr>
          <a:xfrm>
            <a:off x="838993" y="1144987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Spatial Mamba Branch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7343876-5350-E8ED-3516-831A219EF986}"/>
              </a:ext>
            </a:extLst>
          </p:cNvPr>
          <p:cNvSpPr txBox="1"/>
          <p:nvPr/>
        </p:nvSpPr>
        <p:spPr>
          <a:xfrm>
            <a:off x="700646" y="1790801"/>
            <a:ext cx="5029200" cy="385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Bidirectional Mamba scanning: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Horizontal scan (H×W → sequence)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Vertical scan (W×H → sequence)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Learnable 2D positional encoding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Preserve spatial topology priors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Depth-wise spatial fusion: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Conv3×3 → GELU → Conv1×1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Complexity: O(HW) linear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46DB00A-868A-BF0C-F884-95D456776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090" y="3065500"/>
            <a:ext cx="285765" cy="38102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121CB78-A1F4-4D3E-510A-B1BE42FB03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4"/>
          <a:stretch>
            <a:fillRect/>
          </a:stretch>
        </p:blipFill>
        <p:spPr bwMode="auto">
          <a:xfrm>
            <a:off x="5729846" y="440165"/>
            <a:ext cx="6237424" cy="563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C2EC07-E4F4-FDD4-2B37-2B4ED2D85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846" y="923963"/>
            <a:ext cx="228612" cy="19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4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CBCD-B72E-016C-51DE-47F0B10F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38C897-3BC0-5843-32F6-E4A3D67A9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324E02C-FF2F-7C52-AAE6-2796146E9C0A}"/>
              </a:ext>
            </a:extLst>
          </p:cNvPr>
          <p:cNvSpPr txBox="1"/>
          <p:nvPr/>
        </p:nvSpPr>
        <p:spPr>
          <a:xfrm>
            <a:off x="176942" y="561111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FSMB Design</a:t>
            </a:r>
            <a:endParaRPr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70CC81C-2C23-91E4-F9DD-A8F22BAE5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090" y="3065500"/>
            <a:ext cx="285765" cy="3810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083B67-F34E-B424-2CC7-C1DBE6BB8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846" y="923963"/>
            <a:ext cx="228612" cy="19686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2EE00893-B2A9-3132-5EE3-EB922806CEE0}"/>
              </a:ext>
            </a:extLst>
          </p:cNvPr>
          <p:cNvSpPr txBox="1"/>
          <p:nvPr/>
        </p:nvSpPr>
        <p:spPr>
          <a:xfrm>
            <a:off x="640080" y="91321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t>Adaptive Frequency Modulation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6B9E74E-D950-A84B-3CBF-5D5CBDB60917}"/>
              </a:ext>
            </a:extLst>
          </p:cNvPr>
          <p:cNvSpPr txBox="1"/>
          <p:nvPr/>
        </p:nvSpPr>
        <p:spPr>
          <a:xfrm>
            <a:off x="640080" y="1553291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• RFFT2 → magnitude M + phase φ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• Mean-normalize M to mitigate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global illumination discrepancies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• Multiplicative modulation: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Gate G: spatial attention map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Enhancer A: Tanh-bounded activation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• Butterworth-like high-frequency prior W: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W = σ(s · (R − c))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c: learnable cutoff, s: learnable sharpness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FC2B82E7-D65A-0A57-EB02-7A16AD40B971}"/>
              </a:ext>
            </a:extLst>
          </p:cNvPr>
          <p:cNvSpPr txBox="1"/>
          <p:nvPr/>
        </p:nvSpPr>
        <p:spPr>
          <a:xfrm>
            <a:off x="6217920" y="1553291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Modulation formula: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M' = M · (1 + α · G × A × W)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• After unnormalization: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M' × M̄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• Inverse RFFT back to spatial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t>• Implicit residual nature: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Frequency branch preserves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t>    anatomical structures</a:t>
            </a:r>
          </a:p>
        </p:txBody>
      </p:sp>
    </p:spTree>
    <p:extLst>
      <p:ext uri="{BB962C8B-B14F-4D97-AF65-F5344CB8AC3E}">
        <p14:creationId xmlns:p14="http://schemas.microsoft.com/office/powerpoint/2010/main" val="3782737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50A9-2EEB-A5B2-13DF-6F777FE1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DEBF78-84A5-F256-9A76-B9EBD4BE3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730DE8D-56C5-4745-6BA5-B81226BB1B14}"/>
              </a:ext>
            </a:extLst>
          </p:cNvPr>
          <p:cNvSpPr txBox="1"/>
          <p:nvPr/>
        </p:nvSpPr>
        <p:spPr>
          <a:xfrm>
            <a:off x="176942" y="561111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FSMB Design</a:t>
            </a:r>
            <a:endParaRPr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50132A-8829-4484-A5B9-6CDF94531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090" y="3065500"/>
            <a:ext cx="285765" cy="3810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743D7D-1F6A-C049-4D1B-83FA6C173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846" y="923963"/>
            <a:ext cx="228612" cy="19686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C50474A4-0651-07F4-D57F-E88A1635BF4A}"/>
              </a:ext>
            </a:extLst>
          </p:cNvPr>
          <p:cNvSpPr txBox="1"/>
          <p:nvPr/>
        </p:nvSpPr>
        <p:spPr>
          <a:xfrm>
            <a:off x="640080" y="91321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Dual-Pathway Fusion + Loss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4FD944C2-4DEB-468C-9493-836F89BA70C5}"/>
              </a:ext>
            </a:extLst>
          </p:cNvPr>
          <p:cNvSpPr txBox="1"/>
          <p:nvPr/>
        </p:nvSpPr>
        <p:spPr>
          <a:xfrm>
            <a:off x="640080" y="1553291"/>
            <a:ext cx="5029200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</a:t>
            </a:r>
            <a:r>
              <a:rPr lang="en-US" altLang="zh-CN" b="1" dirty="0"/>
              <a:t>Adaptive Fusion</a:t>
            </a:r>
            <a:r>
              <a:rPr lang="en-US" altLang="zh-CN" dirty="0"/>
              <a:t>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out = </a:t>
            </a:r>
            <a:r>
              <a:rPr lang="el-GR" altLang="zh-CN" dirty="0"/>
              <a:t>σ(</a:t>
            </a:r>
            <a:r>
              <a:rPr lang="en-US" altLang="zh-CN" dirty="0"/>
              <a:t>gate) × spatial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  + (1−</a:t>
            </a:r>
            <a:r>
              <a:rPr lang="el-GR" altLang="zh-CN" dirty="0"/>
              <a:t>σ(</a:t>
            </a:r>
            <a:r>
              <a:rPr lang="en-US" altLang="zh-CN" dirty="0"/>
              <a:t>gate)) × </a:t>
            </a:r>
            <a:r>
              <a:rPr lang="en-US" altLang="zh-CN" dirty="0" err="1"/>
              <a:t>freq</a:t>
            </a:r>
            <a:endParaRPr lang="en-US" altLang="zh-CN" dirty="0"/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Learnable sigmoid gate balances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spatial vs. frequency contribution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Task-Aware Loss Function: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L = </a:t>
            </a:r>
            <a:r>
              <a:rPr lang="en-US" altLang="zh-CN" dirty="0" err="1"/>
              <a:t>L_char</a:t>
            </a:r>
            <a:r>
              <a:rPr lang="en-US" altLang="zh-CN" dirty="0"/>
              <a:t> + </a:t>
            </a:r>
            <a:r>
              <a:rPr lang="el-GR" altLang="zh-CN" dirty="0"/>
              <a:t>λ_</a:t>
            </a:r>
            <a:r>
              <a:rPr lang="en-US" altLang="zh-CN" dirty="0" err="1"/>
              <a:t>fft</a:t>
            </a:r>
            <a:r>
              <a:rPr lang="en-US" altLang="zh-CN" dirty="0"/>
              <a:t> · </a:t>
            </a:r>
            <a:r>
              <a:rPr lang="en-US" altLang="zh-CN" dirty="0" err="1"/>
              <a:t>L_fft</a:t>
            </a:r>
            <a:r>
              <a:rPr lang="en-US" altLang="zh-CN" dirty="0"/>
              <a:t> + </a:t>
            </a:r>
            <a:r>
              <a:rPr lang="el-GR" altLang="zh-CN" dirty="0"/>
              <a:t>λ_</a:t>
            </a:r>
            <a:r>
              <a:rPr lang="en-US" altLang="zh-CN" dirty="0"/>
              <a:t>edge · </a:t>
            </a:r>
            <a:r>
              <a:rPr lang="en-US" altLang="zh-CN" dirty="0" err="1"/>
              <a:t>L_edge</a:t>
            </a:r>
            <a:endParaRPr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F46ADFCF-D6EF-BD4C-691C-19A68EC79B0E}"/>
              </a:ext>
            </a:extLst>
          </p:cNvPr>
          <p:cNvSpPr txBox="1"/>
          <p:nvPr/>
        </p:nvSpPr>
        <p:spPr>
          <a:xfrm>
            <a:off x="6217920" y="1553291"/>
            <a:ext cx="5029200" cy="421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b="1" dirty="0"/>
              <a:t>Loss Details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 err="1">
                <a:solidFill>
                  <a:srgbClr val="FF0000"/>
                </a:solidFill>
              </a:rPr>
              <a:t>L_char</a:t>
            </a:r>
            <a:r>
              <a:rPr lang="en-US" altLang="zh-CN" dirty="0"/>
              <a:t>: Charbonnier (</a:t>
            </a:r>
            <a:r>
              <a:rPr lang="el-GR" altLang="zh-CN" dirty="0"/>
              <a:t>ε=1</a:t>
            </a:r>
            <a:r>
              <a:rPr lang="en-US" altLang="zh-CN" dirty="0"/>
              <a:t>e-3)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Smooth L1 variant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 err="1">
                <a:solidFill>
                  <a:srgbClr val="FF0000"/>
                </a:solidFill>
              </a:rPr>
              <a:t>L_fft</a:t>
            </a:r>
            <a:r>
              <a:rPr lang="en-US" altLang="zh-CN" dirty="0"/>
              <a:t>: Log-magnitude FFT L1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Preserves frequency distribution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 err="1">
                <a:solidFill>
                  <a:srgbClr val="FF0000"/>
                </a:solidFill>
              </a:rPr>
              <a:t>L_edge</a:t>
            </a:r>
            <a:r>
              <a:rPr lang="en-US" altLang="zh-CN" dirty="0"/>
              <a:t>: Sobel gradient L1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Preserves vessel boundaries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l-GR" altLang="zh-CN" dirty="0"/>
              <a:t>λ_</a:t>
            </a:r>
            <a:r>
              <a:rPr lang="en-US" altLang="zh-CN" dirty="0" err="1"/>
              <a:t>fft</a:t>
            </a:r>
            <a:r>
              <a:rPr lang="en-US" altLang="zh-CN" dirty="0"/>
              <a:t>=0.3, </a:t>
            </a:r>
            <a:r>
              <a:rPr lang="el-GR" altLang="zh-CN" dirty="0"/>
              <a:t>λ_</a:t>
            </a:r>
            <a:r>
              <a:rPr lang="en-US" altLang="zh-CN" dirty="0"/>
              <a:t>edge=0.3</a:t>
            </a:r>
          </a:p>
        </p:txBody>
      </p:sp>
    </p:spTree>
    <p:extLst>
      <p:ext uri="{BB962C8B-B14F-4D97-AF65-F5344CB8AC3E}">
        <p14:creationId xmlns:p14="http://schemas.microsoft.com/office/powerpoint/2010/main" val="29520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4F924-4814-3C56-2C22-09F7AD33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591A37-5D3A-6B1C-C730-F496EC57E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A45B3294-B3B1-420E-A780-2B90260635F3}" type="slidenum">
              <a:rPr lang="en-US" altLang="zh-CN" smtClean="0"/>
              <a:t>13</a:t>
            </a:fld>
            <a:endParaRPr lang="en-US" altLang="zh-CN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C167AA-4C2A-D4B7-49D4-CD20C4B3EE63}"/>
              </a:ext>
            </a:extLst>
          </p:cNvPr>
          <p:cNvGrpSpPr/>
          <p:nvPr/>
        </p:nvGrpSpPr>
        <p:grpSpPr>
          <a:xfrm>
            <a:off x="2948178" y="2875002"/>
            <a:ext cx="6295644" cy="1107996"/>
            <a:chOff x="2837475" y="2844967"/>
            <a:chExt cx="6295644" cy="110799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A641A68-882C-3804-E16F-0B5558754280}"/>
                </a:ext>
              </a:extLst>
            </p:cNvPr>
            <p:cNvSpPr/>
            <p:nvPr/>
          </p:nvSpPr>
          <p:spPr>
            <a:xfrm>
              <a:off x="2837475" y="2891134"/>
              <a:ext cx="999681" cy="1015663"/>
            </a:xfrm>
            <a:prstGeom prst="ellipse">
              <a:avLst/>
            </a:prstGeom>
            <a:noFill/>
            <a:ln w="19050">
              <a:solidFill>
                <a:srgbClr val="8FAA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4400" dirty="0">
                  <a:solidFill>
                    <a:srgbClr val="8FAAD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kumimoji="1" lang="zh-CN" altLang="en-US" sz="4400" dirty="0">
                <a:solidFill>
                  <a:srgbClr val="8FAAD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FF354EF-E16F-4EA4-5A3A-899DB8C9547C}"/>
                </a:ext>
              </a:extLst>
            </p:cNvPr>
            <p:cNvSpPr txBox="1"/>
            <p:nvPr/>
          </p:nvSpPr>
          <p:spPr>
            <a:xfrm>
              <a:off x="3837156" y="2844967"/>
              <a:ext cx="529596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  <a:defRPr sz="5400" b="1">
                  <a:solidFill>
                    <a:srgbClr val="2D2D2D"/>
                  </a:solidFill>
                  <a:latin typeface="Arial"/>
                </a:defRPr>
              </a:pPr>
              <a:r>
                <a:rPr lang="en-US" altLang="zh-CN" sz="6600" dirty="0"/>
                <a:t>Experiments</a:t>
              </a:r>
            </a:p>
          </p:txBody>
        </p:sp>
      </p:grpSp>
      <p:sp>
        <p:nvSpPr>
          <p:cNvPr id="8" name="TextBox 3">
            <a:extLst>
              <a:ext uri="{FF2B5EF4-FFF2-40B4-BE49-F238E27FC236}">
                <a16:creationId xmlns:a16="http://schemas.microsoft.com/office/drawing/2014/main" id="{CF2F2C45-4F4C-0004-E820-AC06358521D1}"/>
              </a:ext>
            </a:extLst>
          </p:cNvPr>
          <p:cNvSpPr txBox="1"/>
          <p:nvPr/>
        </p:nvSpPr>
        <p:spPr>
          <a:xfrm>
            <a:off x="2895600" y="434161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472C4"/>
                </a:solidFill>
              </a:defRPr>
            </a:pPr>
            <a:r>
              <a:rPr dirty="0"/>
              <a:t>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42794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353766" y="6295387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ED04E0D-7632-24DA-2A05-29D1614734F0}"/>
              </a:ext>
            </a:extLst>
          </p:cNvPr>
          <p:cNvSpPr txBox="1"/>
          <p:nvPr/>
        </p:nvSpPr>
        <p:spPr>
          <a:xfrm>
            <a:off x="153192" y="561113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 </a:t>
            </a:r>
            <a:r>
              <a:rPr dirty="0"/>
              <a:t>Setup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77B9DBB-A64F-B252-27CF-2BC8F54630FE}"/>
              </a:ext>
            </a:extLst>
          </p:cNvPr>
          <p:cNvSpPr txBox="1"/>
          <p:nvPr/>
        </p:nvSpPr>
        <p:spPr>
          <a:xfrm>
            <a:off x="153192" y="972593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dirty="0"/>
              <a:t>Experimental Configuration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9F53F77-D3D0-5BAF-CCB4-8A1B59088FB3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4058315"/>
              </p:ext>
            </p:extLst>
          </p:nvPr>
        </p:nvGraphicFramePr>
        <p:xfrm>
          <a:off x="241055" y="3371411"/>
          <a:ext cx="2632710" cy="3157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94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Evaluating datasets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Num.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209"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DRIVE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20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209"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HRF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15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813462"/>
                  </a:ext>
                </a:extLst>
              </a:tr>
              <a:tr h="749209"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CHASE_DB1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28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74B236E-98B1-551B-B3A0-B893F1FDB2B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3961506"/>
              </p:ext>
            </p:extLst>
          </p:nvPr>
        </p:nvGraphicFramePr>
        <p:xfrm>
          <a:off x="241055" y="1443288"/>
          <a:ext cx="4212192" cy="1914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048">
                  <a:extLst>
                    <a:ext uri="{9D8B030D-6E8A-4147-A177-3AD203B41FA5}">
                      <a16:colId xmlns:a16="http://schemas.microsoft.com/office/drawing/2014/main" val="2355068925"/>
                    </a:ext>
                  </a:extLst>
                </a:gridCol>
                <a:gridCol w="1053048">
                  <a:extLst>
                    <a:ext uri="{9D8B030D-6E8A-4147-A177-3AD203B41FA5}">
                      <a16:colId xmlns:a16="http://schemas.microsoft.com/office/drawing/2014/main" val="972176721"/>
                    </a:ext>
                  </a:extLst>
                </a:gridCol>
              </a:tblGrid>
              <a:tr h="936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Training Dataset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train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validate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test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16"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APTOS 2019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1024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128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defTabSz="342900"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/>
                        <a:t>128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4CA2EE3-1B5F-FC7B-D398-3C1C0FE58659}"/>
              </a:ext>
            </a:extLst>
          </p:cNvPr>
          <p:cNvSpPr txBox="1"/>
          <p:nvPr/>
        </p:nvSpPr>
        <p:spPr>
          <a:xfrm>
            <a:off x="6660489" y="816866"/>
            <a:ext cx="60979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Zero-shot cross-dataset protocol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</a:t>
            </a:r>
            <a:r>
              <a:rPr lang="en-US" altLang="zh-CN" dirty="0" err="1"/>
              <a:t>AdamW</a:t>
            </a:r>
            <a:r>
              <a:rPr lang="en-US" altLang="zh-CN" dirty="0"/>
              <a:t> (</a:t>
            </a:r>
            <a:r>
              <a:rPr lang="en-US" altLang="zh-CN" dirty="0" err="1"/>
              <a:t>lr</a:t>
            </a:r>
            <a:r>
              <a:rPr lang="en-US" altLang="zh-CN" dirty="0"/>
              <a:t>=4e-4, wd=1e-4)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</a:t>
            </a:r>
            <a:r>
              <a:rPr lang="en-US" altLang="zh-CN" dirty="0" err="1"/>
              <a:t>ReduceLROnPlateau</a:t>
            </a:r>
            <a:r>
              <a:rPr lang="en-US" altLang="zh-CN" dirty="0"/>
              <a:t> (factor=0.5)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EMA decay = 0.999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Early stopping (patience=30)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Mixed precision (AMP + </a:t>
            </a:r>
            <a:r>
              <a:rPr lang="en-US" altLang="zh-CN" dirty="0" err="1"/>
              <a:t>GradScaler</a:t>
            </a:r>
            <a:r>
              <a:rPr lang="en-US" altLang="zh-CN" dirty="0"/>
              <a:t>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Image size: 512×512, batch=8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0078A5-A897-275B-1679-9D90A7B850C9}"/>
              </a:ext>
            </a:extLst>
          </p:cNvPr>
          <p:cNvSpPr txBox="1"/>
          <p:nvPr/>
        </p:nvSpPr>
        <p:spPr>
          <a:xfrm>
            <a:off x="4557156" y="3576372"/>
            <a:ext cx="6097978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b="1" dirty="0"/>
              <a:t>Evaluation Metrics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PSNR, SSIM = fidelity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LPIPS = perceptual quality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Dice, AUC = downstream seg.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b="1" dirty="0"/>
              <a:t>Baselines: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U-Net, </a:t>
            </a:r>
            <a:r>
              <a:rPr lang="en-US" altLang="zh-CN" dirty="0" err="1"/>
              <a:t>Restormer</a:t>
            </a:r>
            <a:r>
              <a:rPr lang="en-US" altLang="zh-CN" dirty="0"/>
              <a:t>, </a:t>
            </a:r>
            <a:r>
              <a:rPr lang="en-US" altLang="zh-CN" dirty="0" err="1"/>
              <a:t>NAFNet</a:t>
            </a:r>
            <a:r>
              <a:rPr lang="en-US" altLang="zh-CN" dirty="0"/>
              <a:t>, </a:t>
            </a:r>
            <a:r>
              <a:rPr lang="en-US" altLang="zh-CN" dirty="0" err="1"/>
              <a:t>FFCNet</a:t>
            </a:r>
            <a:endParaRPr lang="en-US" altLang="zh-CN" dirty="0"/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(same U-Net skeleton)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6485-4DF8-7E1A-5B9A-2817977E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045874-83B2-1035-26E4-0BB015258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4D8D7-FFD4-5B41-5617-506E4B656A4F}"/>
              </a:ext>
            </a:extLst>
          </p:cNvPr>
          <p:cNvSpPr txBox="1"/>
          <p:nvPr/>
        </p:nvSpPr>
        <p:spPr>
          <a:xfrm>
            <a:off x="153195" y="525483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</a:t>
            </a:r>
            <a:r>
              <a:rPr dirty="0"/>
              <a:t>Results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6829725-1320-0DFC-F5AE-9C8E15074A7D}"/>
              </a:ext>
            </a:extLst>
          </p:cNvPr>
          <p:cNvSpPr txBox="1"/>
          <p:nvPr/>
        </p:nvSpPr>
        <p:spPr>
          <a:xfrm>
            <a:off x="450075" y="96071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dirty="0"/>
              <a:t>Image Quality Comparison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3F11A3-161F-A607-64A5-3D1AEE9DCD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483933"/>
            <a:ext cx="9448607" cy="50118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1AEE5BF-87A4-9E95-A34B-3CD3F7646717}"/>
              </a:ext>
            </a:extLst>
          </p:cNvPr>
          <p:cNvSpPr txBox="1"/>
          <p:nvPr/>
        </p:nvSpPr>
        <p:spPr>
          <a:xfrm>
            <a:off x="9448606" y="2007153"/>
            <a:ext cx="25919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FreqMamba effectively restores global illumination and vascular de-tails, while its frequency spectrum closely aligns with the healthy ground truth state,explicitly avoiding the severe high-frequency loss typical of CNN-based enhancement.</a:t>
            </a:r>
          </a:p>
        </p:txBody>
      </p:sp>
    </p:spTree>
    <p:extLst>
      <p:ext uri="{BB962C8B-B14F-4D97-AF65-F5344CB8AC3E}">
        <p14:creationId xmlns:p14="http://schemas.microsoft.com/office/powerpoint/2010/main" val="3871498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22716-22CE-3E65-D593-8557DEB2474E}"/>
              </a:ext>
            </a:extLst>
          </p:cNvPr>
          <p:cNvSpPr txBox="1"/>
          <p:nvPr/>
        </p:nvSpPr>
        <p:spPr>
          <a:xfrm>
            <a:off x="153195" y="525483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</a:t>
            </a:r>
            <a:r>
              <a:rPr dirty="0"/>
              <a:t>Results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22C0C5C-B3E2-E181-827C-07C11F7BEC27}"/>
              </a:ext>
            </a:extLst>
          </p:cNvPr>
          <p:cNvSpPr txBox="1"/>
          <p:nvPr/>
        </p:nvSpPr>
        <p:spPr>
          <a:xfrm>
            <a:off x="450075" y="960713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t>Image Quality Comparison (Table 1)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E598E25-3ED4-B277-9D13-F4EEBED06BF7}"/>
              </a:ext>
            </a:extLst>
          </p:cNvPr>
          <p:cNvSpPr txBox="1"/>
          <p:nvPr/>
        </p:nvSpPr>
        <p:spPr>
          <a:xfrm>
            <a:off x="450076" y="1600793"/>
            <a:ext cx="3920044" cy="328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FreqMamba</a:t>
            </a:r>
            <a:r>
              <a:rPr dirty="0"/>
              <a:t> achieves SOTA across all metrics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Best PSNR, SSIM, LPIPS on DRIVE, HRF, CHASE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LPIPS: significant perceptual quality gain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dirty="0"/>
              <a:t>• CLAHE deteriorates SSIM/LPIPS by amplifying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dirty="0"/>
              <a:t>    high-frequency sensor noise indiscriminately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72B32DC-1EDB-8EEC-53C0-515BF7AAD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169" y="1600793"/>
            <a:ext cx="8292473" cy="36564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E52F-8C72-1557-00EF-5B9D4441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A61204-58A4-C016-B7CE-773658B77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5BA11-9E6F-06EC-DC84-B390A0C3C8C1}"/>
              </a:ext>
            </a:extLst>
          </p:cNvPr>
          <p:cNvSpPr txBox="1"/>
          <p:nvPr/>
        </p:nvSpPr>
        <p:spPr>
          <a:xfrm>
            <a:off x="153195" y="525483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</a:t>
            </a:r>
            <a:r>
              <a:rPr dirty="0"/>
              <a:t>Results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8C621E-F70C-955B-B041-EE1D4E74DC25}"/>
              </a:ext>
            </a:extLst>
          </p:cNvPr>
          <p:cNvSpPr txBox="1"/>
          <p:nvPr/>
        </p:nvSpPr>
        <p:spPr>
          <a:xfrm>
            <a:off x="450075" y="96071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Downstream Segmentation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61CBA0-273D-0008-9B3C-8547F5013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9" y="1483933"/>
            <a:ext cx="11772727" cy="336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F1E0BD6-CFED-7212-7489-B0C2B1190223}"/>
              </a:ext>
            </a:extLst>
          </p:cNvPr>
          <p:cNvSpPr txBox="1"/>
          <p:nvPr/>
        </p:nvSpPr>
        <p:spPr>
          <a:xfrm>
            <a:off x="761805" y="5101317"/>
            <a:ext cx="10222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Segmentation overlay comparison. Green indicates True Positive (TP), Red indicates False Positive (FP), and Blue indicates False Negative (FN, representing disconnected vessels).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FreqMamba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significantly reduces topological disconnections commonly caused by conventional over-smoothing.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52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96F2D-2EA3-AA26-B4C8-DC61A5B9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8B533F-0B62-A656-0FAB-6C664EC03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219B6-3E60-57FD-D912-97F329A9DEC2}"/>
              </a:ext>
            </a:extLst>
          </p:cNvPr>
          <p:cNvSpPr txBox="1"/>
          <p:nvPr/>
        </p:nvSpPr>
        <p:spPr>
          <a:xfrm>
            <a:off x="153195" y="525483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</a:t>
            </a:r>
            <a:r>
              <a:rPr dirty="0"/>
              <a:t>Results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3539CE6-E822-B898-A02E-154B6E9E1C07}"/>
              </a:ext>
            </a:extLst>
          </p:cNvPr>
          <p:cNvSpPr txBox="1"/>
          <p:nvPr/>
        </p:nvSpPr>
        <p:spPr>
          <a:xfrm>
            <a:off x="450075" y="96071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Downstream Segmentation (Table 2)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4C34F17-AE74-2313-1205-864F94189634}"/>
              </a:ext>
            </a:extLst>
          </p:cNvPr>
          <p:cNvSpPr txBox="1"/>
          <p:nvPr/>
        </p:nvSpPr>
        <p:spPr>
          <a:xfrm>
            <a:off x="450076" y="1600793"/>
            <a:ext cx="3920044" cy="422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Frozen segmentation </a:t>
            </a:r>
            <a:r>
              <a:rPr lang="en-US" altLang="zh-CN" dirty="0" err="1"/>
              <a:t>UNet</a:t>
            </a:r>
            <a:r>
              <a:rPr lang="en-US" altLang="zh-CN" dirty="0"/>
              <a:t> evaluates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enhancement quality on downstream task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Baseline CNNs degrade Dice score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(over-smoothing destroys vessel connectivity)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</a:t>
            </a:r>
            <a:r>
              <a:rPr lang="en-US" altLang="zh-CN" dirty="0" err="1"/>
              <a:t>FreqMamba</a:t>
            </a:r>
            <a:r>
              <a:rPr lang="en-US" altLang="zh-CN" dirty="0"/>
              <a:t> preserves vascular structures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→ highest Dice + AUC on all datasets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AB37AC-9A05-7626-C5DF-DAA20B716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112" y="1600793"/>
            <a:ext cx="7866313" cy="383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51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B4671-C1B2-C74D-7E25-B47F7F74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B0075E-9D80-86A8-63E4-0F355A35C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C6E4B-51EB-03B7-24CE-38207DDDED9D}"/>
              </a:ext>
            </a:extLst>
          </p:cNvPr>
          <p:cNvSpPr txBox="1"/>
          <p:nvPr/>
        </p:nvSpPr>
        <p:spPr>
          <a:xfrm>
            <a:off x="153195" y="525483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</a:t>
            </a:r>
            <a:r>
              <a:rPr dirty="0"/>
              <a:t>Results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2F387E0C-284C-54B3-34CA-9BFFAFFDB6AE}"/>
              </a:ext>
            </a:extLst>
          </p:cNvPr>
          <p:cNvSpPr txBox="1"/>
          <p:nvPr/>
        </p:nvSpPr>
        <p:spPr>
          <a:xfrm>
            <a:off x="450075" y="96071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Efficiency Analysis (Table 3)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246DB5F-632E-8A98-38EC-790EA91A39E1}"/>
              </a:ext>
            </a:extLst>
          </p:cNvPr>
          <p:cNvSpPr txBox="1"/>
          <p:nvPr/>
        </p:nvSpPr>
        <p:spPr>
          <a:xfrm>
            <a:off x="450076" y="1600793"/>
            <a:ext cx="3920044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</a:t>
            </a:r>
            <a:r>
              <a:rPr lang="en-US" altLang="zh-CN" dirty="0" err="1"/>
              <a:t>FreqMamba</a:t>
            </a:r>
            <a:r>
              <a:rPr lang="en-US" altLang="zh-CN" dirty="0"/>
              <a:t> strikes optimal balance between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over-smoothing (U-Net) &amp; under-denoising (</a:t>
            </a:r>
            <a:r>
              <a:rPr lang="en-US" altLang="zh-CN" dirty="0" err="1"/>
              <a:t>Restormer</a:t>
            </a:r>
            <a:r>
              <a:rPr lang="en-US" altLang="zh-CN" dirty="0"/>
              <a:t>)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Maintains moderate model complexity: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Fewer parameters than </a:t>
            </a:r>
            <a:r>
              <a:rPr lang="en-US" altLang="zh-CN" dirty="0" err="1"/>
              <a:t>Restormer</a:t>
            </a:r>
            <a:endParaRPr lang="en-US" altLang="zh-CN" dirty="0"/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Efficient linear-complexity Mamba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Frequency energy analysis: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Preserves mid-to-high frequency structures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without noise amplification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1B8DC8-578C-7278-0174-69FE4FDD7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211" y="1600793"/>
            <a:ext cx="8177329" cy="365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55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4BEC-3EA0-9C3F-83E5-4B50CC2D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15006B-0494-41FD-70DD-86042AD4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42800-40B6-4CC7-0767-FC8FBDCD309C}"/>
              </a:ext>
            </a:extLst>
          </p:cNvPr>
          <p:cNvSpPr txBox="1"/>
          <p:nvPr/>
        </p:nvSpPr>
        <p:spPr>
          <a:xfrm>
            <a:off x="153195" y="525483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4472C4"/>
                </a:solidFill>
                <a:latin typeface="微软雅黑"/>
              </a:defRPr>
            </a:pPr>
            <a:r>
              <a:rPr lang="en-US" dirty="0"/>
              <a:t>II </a:t>
            </a:r>
            <a:r>
              <a:rPr dirty="0"/>
              <a:t>Results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BBA3C21-3AF1-BD33-6EC3-FEEB33202048}"/>
              </a:ext>
            </a:extLst>
          </p:cNvPr>
          <p:cNvSpPr txBox="1"/>
          <p:nvPr/>
        </p:nvSpPr>
        <p:spPr>
          <a:xfrm>
            <a:off x="450075" y="96071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Ablation Study (Table 4)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718D991-F43E-0A57-5FA2-88CD2A51EEAF}"/>
              </a:ext>
            </a:extLst>
          </p:cNvPr>
          <p:cNvSpPr txBox="1"/>
          <p:nvPr/>
        </p:nvSpPr>
        <p:spPr>
          <a:xfrm>
            <a:off x="450076" y="1600793"/>
            <a:ext cx="3920044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Dual-domain design validated: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Spatial branch only → detail loss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Frequency branch only → structure loss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Both branches combined → best</a:t>
            </a:r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endParaRPr lang="en-US" altLang="zh-CN" dirty="0"/>
          </a:p>
          <a:p>
            <a:pPr>
              <a:spcAft>
                <a:spcPts val="400"/>
              </a:spcAft>
              <a:defRPr sz="2000" b="0">
                <a:solidFill>
                  <a:srgbClr val="2D2D2D"/>
                </a:solidFill>
                <a:latin typeface="Arial"/>
              </a:defRPr>
            </a:pPr>
            <a:r>
              <a:rPr lang="en-US" altLang="zh-CN" dirty="0"/>
              <a:t>• Loss components: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</a:t>
            </a:r>
            <a:r>
              <a:rPr lang="en-US" altLang="zh-CN" dirty="0" err="1"/>
              <a:t>L_fft</a:t>
            </a:r>
            <a:r>
              <a:rPr lang="en-US" altLang="zh-CN" dirty="0"/>
              <a:t> + </a:t>
            </a:r>
            <a:r>
              <a:rPr lang="en-US" altLang="zh-CN" dirty="0" err="1"/>
              <a:t>L_edge</a:t>
            </a:r>
            <a:r>
              <a:rPr lang="en-US" altLang="zh-CN" dirty="0"/>
              <a:t> improve Dice on baseline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But may degrade PSNR without FSMB</a:t>
            </a:r>
          </a:p>
          <a:p>
            <a:pPr>
              <a:spcAft>
                <a:spcPts val="400"/>
              </a:spcAft>
              <a:defRPr sz="1700" b="0">
                <a:solidFill>
                  <a:srgbClr val="2D2D2D"/>
                </a:solidFill>
                <a:latin typeface="Times New Roman"/>
              </a:defRPr>
            </a:pPr>
            <a:r>
              <a:rPr lang="en-US" altLang="zh-CN" dirty="0"/>
              <a:t>    FSMB resolves over-smoothing dilemma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DE3136-062E-055A-A1A3-4E102D95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490" y="1855183"/>
            <a:ext cx="7935450" cy="307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74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E1207-9A02-EE70-0604-DCB62AD9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3340B6-64EA-8BEB-D8EA-19CAB8EF9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66" y="6315072"/>
            <a:ext cx="309880" cy="368300"/>
          </a:xfrm>
        </p:spPr>
        <p:txBody>
          <a:bodyPr/>
          <a:lstStyle/>
          <a:p>
            <a:pPr algn="ctr"/>
            <a:fld id="{A45B3294-B3B1-420E-A780-2B90260635F3}" type="slidenum">
              <a:rPr lang="en-US" altLang="zh-CN" smtClean="0"/>
              <a:t>21</a:t>
            </a:fld>
            <a:endParaRPr lang="en-US" altLang="zh-CN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1230B74-7368-10CD-99C1-2DD9E8D6B6A2}"/>
              </a:ext>
            </a:extLst>
          </p:cNvPr>
          <p:cNvGrpSpPr/>
          <p:nvPr/>
        </p:nvGrpSpPr>
        <p:grpSpPr>
          <a:xfrm>
            <a:off x="2948178" y="2875002"/>
            <a:ext cx="6295644" cy="1107996"/>
            <a:chOff x="2837475" y="2844967"/>
            <a:chExt cx="6295644" cy="110799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E387F1A-E1F4-FE66-D124-36CDD3998D2E}"/>
                </a:ext>
              </a:extLst>
            </p:cNvPr>
            <p:cNvSpPr/>
            <p:nvPr/>
          </p:nvSpPr>
          <p:spPr>
            <a:xfrm>
              <a:off x="2837475" y="2891134"/>
              <a:ext cx="999681" cy="1015663"/>
            </a:xfrm>
            <a:prstGeom prst="ellipse">
              <a:avLst/>
            </a:prstGeom>
            <a:noFill/>
            <a:ln w="19050">
              <a:solidFill>
                <a:srgbClr val="8FAA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4400" dirty="0">
                  <a:solidFill>
                    <a:srgbClr val="8FAAD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1" lang="zh-CN" altLang="en-US" sz="4400" dirty="0">
                <a:solidFill>
                  <a:srgbClr val="8FAAD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D8C4B9E-0DDA-3559-2C25-6629E8E54269}"/>
                </a:ext>
              </a:extLst>
            </p:cNvPr>
            <p:cNvSpPr txBox="1"/>
            <p:nvPr/>
          </p:nvSpPr>
          <p:spPr>
            <a:xfrm>
              <a:off x="3837156" y="2844967"/>
              <a:ext cx="529596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  <a:defRPr sz="5400" b="1">
                  <a:solidFill>
                    <a:srgbClr val="2D2D2D"/>
                  </a:solidFill>
                  <a:latin typeface="Arial"/>
                </a:defRPr>
              </a:pPr>
              <a:r>
                <a:rPr lang="en-US" altLang="zh-CN" sz="6600" dirty="0"/>
                <a:t>Conclusion</a:t>
              </a:r>
            </a:p>
          </p:txBody>
        </p:sp>
      </p:grpSp>
      <p:sp>
        <p:nvSpPr>
          <p:cNvPr id="8" name="TextBox 3">
            <a:extLst>
              <a:ext uri="{FF2B5EF4-FFF2-40B4-BE49-F238E27FC236}">
                <a16:creationId xmlns:a16="http://schemas.microsoft.com/office/drawing/2014/main" id="{E969B74B-50F2-3521-9092-D064A50888FB}"/>
              </a:ext>
            </a:extLst>
          </p:cNvPr>
          <p:cNvSpPr txBox="1"/>
          <p:nvPr/>
        </p:nvSpPr>
        <p:spPr>
          <a:xfrm>
            <a:off x="2895600" y="434161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472C4"/>
                </a:solidFill>
              </a:defRPr>
            </a:pPr>
            <a:r>
              <a:rPr dirty="0"/>
              <a:t>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39888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C345C082-D277-4370-B804-6EA7B8368D96}" type="slidenum">
              <a:rPr lang="en-US" altLang="zh-CN" smtClean="0"/>
              <a:t>22</a:t>
            </a:fld>
            <a:endParaRPr lang="en-US" altLang="zh-CN"/>
          </a:p>
        </p:txBody>
      </p:sp>
      <p:grpSp>
        <p:nvGrpSpPr>
          <p:cNvPr id="11" name="组合 10"/>
          <p:cNvGrpSpPr/>
          <p:nvPr/>
        </p:nvGrpSpPr>
        <p:grpSpPr>
          <a:xfrm>
            <a:off x="683541" y="1512402"/>
            <a:ext cx="10824918" cy="1102740"/>
            <a:chOff x="683541" y="1555619"/>
            <a:chExt cx="10824918" cy="1102740"/>
          </a:xfrm>
        </p:grpSpPr>
        <p:sp>
          <p:nvSpPr>
            <p:cNvPr id="7" name="矩形: 圆角 6"/>
            <p:cNvSpPr/>
            <p:nvPr/>
          </p:nvSpPr>
          <p:spPr>
            <a:xfrm>
              <a:off x="1812795" y="1555619"/>
              <a:ext cx="9695664" cy="110274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165100" sx="98000" sy="98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>
                <a:lnSpc>
                  <a:spcPct val="125000"/>
                </a:lnSpc>
                <a:spcAft>
                  <a:spcPts val="1800"/>
                </a:spcAft>
                <a:buClrTx/>
                <a:buSzTx/>
                <a:buFont typeface="+mj-ea"/>
                <a:buNone/>
              </a:pPr>
              <a:r>
                <a:rPr lang="en-US" sz="2000" b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FreqMamba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: hybrid architecture integrating bidirectional Mamba-based spatial modeling with adaptive frequency modulation</a:t>
              </a: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683541" y="1663929"/>
              <a:ext cx="886120" cy="88612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165100" sx="98000" sy="98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733830" y="1714218"/>
              <a:ext cx="785542" cy="78554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60000"/>
              </a:schemeClr>
            </a:soli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63697" y="4644081"/>
            <a:ext cx="10824918" cy="1102740"/>
            <a:chOff x="683541" y="1555619"/>
            <a:chExt cx="10824918" cy="1102740"/>
          </a:xfrm>
        </p:grpSpPr>
        <p:sp>
          <p:nvSpPr>
            <p:cNvPr id="13" name="矩形: 圆角 12"/>
            <p:cNvSpPr/>
            <p:nvPr/>
          </p:nvSpPr>
          <p:spPr>
            <a:xfrm>
              <a:off x="1812795" y="1555619"/>
              <a:ext cx="9695664" cy="110274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165100" sx="98000" sy="98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Downstream-task-aware evaluation protocol under zero-shot cross-dataset settings, demonstrating SOTA perceptual quality and vascular preservation for enhanced clinical utility</a:t>
              </a: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683541" y="1663929"/>
              <a:ext cx="886120" cy="88612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165100" sx="98000" sy="98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733830" y="1714218"/>
              <a:ext cx="785542" cy="78554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60000"/>
              </a:schemeClr>
            </a:soli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63697" y="3078079"/>
            <a:ext cx="10824918" cy="1102740"/>
            <a:chOff x="683541" y="1555619"/>
            <a:chExt cx="10824918" cy="1102740"/>
          </a:xfrm>
        </p:grpSpPr>
        <p:sp>
          <p:nvSpPr>
            <p:cNvPr id="17" name="矩形: 圆角 16"/>
            <p:cNvSpPr/>
            <p:nvPr/>
          </p:nvSpPr>
          <p:spPr>
            <a:xfrm>
              <a:off x="1812795" y="1555619"/>
              <a:ext cx="9695664" cy="110274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165100" sx="98000" sy="98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>
                <a:lnSpc>
                  <a:spcPct val="125000"/>
                </a:lnSpc>
                <a:spcAft>
                  <a:spcPts val="1800"/>
                </a:spcAft>
                <a:buClrTx/>
                <a:buSzTx/>
                <a:buFont typeface="+mj-ea"/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FSMB: core computational unit combining long-range S6 </a:t>
              </a:r>
              <a:r>
                <a:rPr lang="en-US" sz="2000" b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SSMswith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 Butterworth-guided implicit residual frequency </a:t>
              </a:r>
              <a:r>
                <a:rPr lang="en-US" sz="2000" b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modulationto</a:t>
              </a:r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 resolve the over-smoothing dilemma</a:t>
              </a: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683541" y="1663929"/>
              <a:ext cx="886120" cy="88612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165100" sx="98000" sy="98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33830" y="1714218"/>
              <a:ext cx="785542" cy="78554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60000"/>
              </a:schemeClr>
            </a:soli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56BBA8CC-452A-BE3D-5041-19B169A96A96}"/>
              </a:ext>
            </a:extLst>
          </p:cNvPr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2D2D2D"/>
                </a:solidFill>
                <a:latin typeface="Arial"/>
              </a:defRPr>
            </a:pPr>
            <a:r>
              <a:t>Thank You!  Q&amp;A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DE9EF6D-0CDE-5B71-35A0-588B89A5CEA8}"/>
              </a:ext>
            </a:extLst>
          </p:cNvPr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666666"/>
                </a:solidFill>
                <a:latin typeface="Arial"/>
              </a:defRPr>
            </a:pPr>
            <a:r>
              <a:t>FreqMamba  —  ICIC 2026  —  Paper 5225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2CF5218-0F12-C45F-CAFE-A45B94C31480}"/>
              </a:ext>
            </a:extLst>
          </p:cNvPr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666666"/>
                </a:solidFill>
                <a:latin typeface="Arial"/>
              </a:defRPr>
            </a:pPr>
            <a:r>
              <a:rPr dirty="0"/>
              <a:t>Jialiang Liu  |  Southern University of Science and Technology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32435" y="772160"/>
            <a:ext cx="11382375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	Bansal, S., A, S., Prasath, M.J., et al.: A comprehensive survey of mamba architectures for medical image analysis: Classification, segmentation, restoration and beyond.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arXiv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preprint arXiv:2410.02362 (2024)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2.	Cao, H., Wang, Y., Chen, J., Jiang, D., Zhang, X., Tian, Q., Wang, M.: Swin-unet: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Unet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-like pure transformer for medical image segmentation. In: European Conference on Computer Vision Workshops (ECCVW) (2022)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3.	Cheng, P., Lin, L., Huang, Y., Lyu, J., Tang, X.: I-secret: Importance-guided fundus image enhancement via semi-supervised contrastive constraining. In: Medical Image Computing and Computer Assisted Intervention–MICCAI. pp. 87–96. Springer (2021)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4.	Fan, H., Yu, X., Li, H., Li, H., Liu, J.: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Gdaformer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: Transformer-driven fundus image enhancement with gated dual-attention.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arXiv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preprint arXiv:2403.01234 (2024)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5.	Gu, A., Dao, T.: Mamba: Linear-time sequence modeling with selective state spaces.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arXiv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preprint arXiv:2312.00752 (2023)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6.	Jena, R., et al.: Self-supervised vessel enhancement using flow-based consistencies. In: Medical Image Computing and Computer Assisted Intervention–MICCAI. Springer (2021)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7.	Li, H., Liu, H., Fu, H., Shu, H., Zhao, Y., Luo, X., Hu, Y., Liu, J.: Structure-consistent restoration network for cataract fundus image enhancement. In: Medical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Im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-age Computing and Computer-Assisted Intervention–MICCAI. pp. 487–496. Springer (2022)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8.	Li, H., Liu, H., Fu, H., et al.: A generic fundus image enhancement network boosted by frequency self-supervised representation learning. Medical Image Analysis 90, 102945 (2023). https://doi.org/10.1016/j.media.2023.102945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9.	Li, T., Bo, W., Hu, C., Kang, H., Liu, H., Wang, K., Fu, H.: Applications of deep learn-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ing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in fundus images: A review. Medical Image Analysis 69, 101971 (2021)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10.	Liao, W., Chen, Z., Xie, J., Zheng, Y., Ma, Y., Zhao, Y.: A frequency-aware self-supervised learning for ultra-wide-field image enhancement. In: Medical Image Compu-ting and Computer Assisted Intervention–MICCAI. Springer (2025)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endParaRPr lang="en-US" altLang="zh-CN" sz="1600" kern="100" dirty="0" err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893" y="491678"/>
            <a:ext cx="155067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32435" y="772160"/>
            <a:ext cx="11382375" cy="6219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11.	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Litjens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G.,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S´anchez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C.I., Timofeeva, N., Hermsen, M., et al.: Deep learning as a tool for increased accuracy and efficiency of histopathological diagnosis. Scientific reports 6(1), 26286 (2016). https://doi.org/10.1038/srep26286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12.	Liu, D., et al.: Adaptive frequency-domain enhanced deep model driven by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heterogene-ous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networks for medical image segmentation. Knowledge-Based Systems (2025)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13.	Liu, H., Li, H., Fu, H., Xiao, R., Gao, Y., Hu, Y., Liu, J.: Degradation-invariant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en-hancement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of fundus images via pyramid constraint network. In: Medical Image Com-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puting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and Computer-Assisted Intervention–MICCAI. pp. 507–516. Springer (2022)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14.	Liu, Y., Tian, Y., Zhao, Y., Yu, H., Xie, L., Wang, Y., Ye, Q., Jiao, J., Liu, Y.: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Vmamba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: Visual state space model. In: Advances in Neural Information Processing Systems (2024)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15.	Luo, B., Wen, Y., Ji, J., Cao, W., Li, P.: Frequency-domain assisted fundus image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en-hancement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network based on the mamba model. In: 2024 IEEE International Confer-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ence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on Progress in Informatics and Computing (PIC). pp. 239–243. IEEE (2024)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16.	Ma, J., Li, F., Wang, B.: U-mamba: Enhancing long-range dependency for biomedical image segmentation.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arXiv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preprint arXiv:2401.04722 (2024)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17.	Pazo, E.E.,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Moutari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S., Gao, F., Hu, L., Usama, M., Li, X., Liu, J.: Structure-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preserv-ing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super-resolution of retinal fundus images via a dual-transformer residual network. Frontiers in Medicine 12, 1730678 (2026)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18.	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Ronneberger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O., Fischer, P., Brox, T.: U-net: Convolutional networks for biomedical image segmentation. In: Medical Image Computing and Computer-Assisted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Interven-tion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–MICCAI. pp. 234–241. Springer (2015)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19.	Shen, Z., Fu, H., Shen, J., Shao, L.: Modeling and enhancing low-quality retinal fun-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dus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images. IEEE Transactions on Medical Imaging 40(3), 996–1006 (2020)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20.	Wang, Z., Zheng, J.Q., Zhang, Y., Cui, G., Li, L.: Mamba-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unet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Unet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-like pure visual mamba for medical image segmentation.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arXiv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preprint arXiv:2402.05079 (2024)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9878" y="491678"/>
            <a:ext cx="155067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353766" y="6315072"/>
            <a:ext cx="436880" cy="368300"/>
          </a:xfrm>
        </p:spPr>
        <p:txBody>
          <a:bodyPr/>
          <a:lstStyle/>
          <a:p>
            <a:pPr algn="ctr"/>
            <a:fld id="{C345C082-D277-4370-B804-6EA7B8368D96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32435" y="772160"/>
            <a:ext cx="11382375" cy="56034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21.	Wen, Y., Luo, Y., et al.: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Dsf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-net: a dual-stream fusion network integrating structural and detailed features for fundus-based diabetic retinopathy classification. The Visual Computer (2025)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22.	Wu, W., Xing, Z., Gong, J., Peng, Q., Zhu, L.: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Hybridmamba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: A dual-domain mamba for 3d medical image segmentation.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arXiv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preprint arXiv:2509.14609 (2025)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23.	Xie, R., et al.: Analysis of in vivo sclera impact on the biomechanics of myopic eyes. Translational Vision Science &amp; Technology 14(6), 8 (2025). https://doi.org/10.1167/tvst.14.6.8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24.	Xing, Z., Ye, T., Yang, Y., Liu, G., Zhu, L.: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Segmamba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: long-range sequential model-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ing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mamba for 3d medical image segmentation. In: Medical Image Computing and Computer Assisted Intervention–MICCAI. Springer (2024)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25.	Xu, K., Liang, Z., Wei, W., Chen, H., Jin, Y.: Fundus image enhancement with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pyra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-mid conditional flow. IEEE Journal of Biomedical and Health Informatics (2025)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26.	Yuan, Y., Zhang, Y., et al.: Exploiting cross-scale attention transformer and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progres-sive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edge refinement for retinal vessel segmentation. Mathematics 12(2), 264 (2024)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27.	Zheng, P., Chen, K., Huang, J., Chen, B., Liu, J., Ren, Y., Pu, X.: Efficient medical image restoration via reliability guided learning in frequency domain. 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arXiv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preprint arXiv:2504.11286 (2025). https://doi.org/10.48550/arXiv.2504.11286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28.	Zhou, Y., Ahmed, T.S., et al.: Masked vascular structure segmentation and completion in retinal images. IEEE Transactions on Medical Imaging (2025)</a:t>
            </a:r>
          </a:p>
          <a:p>
            <a:pPr algn="l" defTabSz="609600">
              <a:lnSpc>
                <a:spcPct val="125000"/>
              </a:lnSpc>
              <a:buClrTx/>
              <a:buSzTx/>
              <a:buNone/>
            </a:pP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29.	Zou, H., Liu, J., et al.: Retinal features as predictive indicators for high myopia: in-sights from explainable multi-machine learning models. Frontiers in Bioengineering and Biotechnology 13, 1609639 (2025)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2893" y="491678"/>
            <a:ext cx="1550670" cy="3987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liMmE4ZmE5ZmM3YzQ5MTQwMzY2ZWUzYjg4MDZjNTIifQ=="/>
  <p:tag name="RESOURCE_RECORD_KEY" val="{&quot;29&quot;:[2040594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6*311"/>
  <p:tag name="TABLE_ENDDRAG_RECT" val="132*118*606*3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6*311"/>
  <p:tag name="TABLE_ENDDRAG_RECT" val="132*118*606*3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9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2620</Words>
  <Application>Microsoft Office PowerPoint</Application>
  <PresentationFormat>宽屏</PresentationFormat>
  <Paragraphs>282</Paragraphs>
  <Slides>26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Antonio</vt:lpstr>
      <vt:lpstr>Minion Pro Cond</vt:lpstr>
      <vt:lpstr>等线</vt:lpstr>
      <vt:lpstr>微软雅黑</vt:lpstr>
      <vt:lpstr>Arial</vt:lpstr>
      <vt:lpstr>Calibri</vt:lpstr>
      <vt:lpstr>Times New Roman</vt:lpstr>
      <vt:lpstr>Office 主题​​</vt:lpstr>
      <vt:lpstr>19_Office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LiChuizi</dc:creator>
  <cp:lastModifiedBy>家亮 刘</cp:lastModifiedBy>
  <cp:revision>290</cp:revision>
  <dcterms:created xsi:type="dcterms:W3CDTF">2023-10-23T13:17:00Z</dcterms:created>
  <dcterms:modified xsi:type="dcterms:W3CDTF">2026-07-25T14:20:39Z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41443954FD16468E980D68E60D3CA56E_12</vt:lpwstr>
  </property>
  <property fmtid="{D5CDD505-2E9C-101B-9397-08002B2CF9AE}" pid="3" name="KSOProductBuildVer">
    <vt:lpwstr>2052-12.1.0.17813</vt:lpwstr>
  </property>
</Properties>
</file>